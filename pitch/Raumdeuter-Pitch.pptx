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RAUMDEUTER AI HACKATHON · PRIVACY-FIRST FAN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45775" cy="2560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000" b="0" i="0">
                <a:solidFill>
                  <a:srgbClr val="1A2132"/>
                </a:solidFill>
                <a:latin typeface="Calibri"/>
              </a:rPr>
              <a:t>What if your </a:t>
            </a:r>
            <a:r>
              <a:rPr sz="6000" b="0" i="0" strike="sngStrike">
                <a:solidFill>
                  <a:srgbClr val="B82F21"/>
                </a:solidFill>
                <a:latin typeface="Calibri"/>
              </a:rPr>
              <a:t>AI</a:t>
            </a:r>
            <a:r>
              <a:rPr sz="6000" b="0" i="0">
                <a:solidFill>
                  <a:srgbClr val="1A2132"/>
                </a:solidFill>
                <a:latin typeface="Calibri"/>
              </a:rPr>
              <a:t> just leaked your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45775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A2132"/>
                </a:solidFill>
                <a:latin typeface="Calibri"/>
              </a:rPr>
              <a:t>fans to OpenAI?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E7482"/>
                </a:solidFill>
                <a:latin typeface="Calibri"/>
              </a:rPr>
              <a:t>Every club wants AI on fan messages. Every fan message is full of names, emails, booking IDs, addresses. Most pipelines just forward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1135" y="5760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000" b="0" i="0">
                <a:solidFill>
                  <a:srgbClr val="6E7482"/>
                </a:solidFill>
                <a:latin typeface="Consolas"/>
              </a:rPr>
              <a:t>Raumdeuter AI Hackathon · 2026</a:t>
            </a:r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A2132"/>
                </a:solidFill>
                <a:latin typeface="Calibri"/>
              </a:rPr>
              <a:t>Football clubs are sitting on millions of fan messages — and they can't use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54864" cy="86868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3246120"/>
            <a:ext cx="5029200" cy="868680"/>
          </a:xfrm>
          <a:prstGeom prst="rect">
            <a:avLst/>
          </a:prstGeom>
          <a:solidFill>
            <a:srgbClr val="FDFBF4"/>
          </a:solidFill>
          <a:ln w="762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3649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B82F21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3756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A2132"/>
                </a:solidFill>
                <a:latin typeface="Calibri"/>
              </a:rPr>
              <a:t>Fans send everything.</a:t>
            </a:r>
            <a:r>
              <a:rPr sz="1100" b="0" i="0">
                <a:solidFill>
                  <a:srgbClr val="6E7482"/>
                </a:solidFill>
                <a:latin typeface="Calibri"/>
              </a:rPr>
              <a:t> Names, emails, phones, addresses, booking IDs — in one breath, in two languages.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206240"/>
            <a:ext cx="54864" cy="86868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77824" y="4206240"/>
            <a:ext cx="5029200" cy="868680"/>
          </a:xfrm>
          <a:prstGeom prst="rect">
            <a:avLst/>
          </a:prstGeom>
          <a:solidFill>
            <a:srgbClr val="FDFBF4"/>
          </a:solidFill>
          <a:ln w="762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3251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B82F21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29768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A2132"/>
                </a:solidFill>
                <a:latin typeface="Calibri"/>
              </a:rPr>
              <a:t>Clubs want insight.</a:t>
            </a:r>
            <a:r>
              <a:rPr sz="1100" b="0" i="0">
                <a:solidFill>
                  <a:srgbClr val="6E7482"/>
                </a:solidFill>
                <a:latin typeface="Calibri"/>
              </a:rPr>
              <a:t> What are fans angry about? Who needs a refund? What's the matchday issue today?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66360"/>
            <a:ext cx="54864" cy="86868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7824" y="5166360"/>
            <a:ext cx="5029200" cy="868680"/>
          </a:xfrm>
          <a:prstGeom prst="rect">
            <a:avLst/>
          </a:prstGeom>
          <a:solidFill>
            <a:srgbClr val="FDFBF4"/>
          </a:solidFill>
          <a:ln w="762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528523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B82F21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57800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300" b="1" i="0">
                <a:solidFill>
                  <a:srgbClr val="1A2132"/>
                </a:solidFill>
                <a:latin typeface="Calibri"/>
              </a:rPr>
              <a:t>Sending raw text to GPT = GDPR breach.</a:t>
            </a:r>
            <a:r>
              <a:rPr sz="1100" b="0" i="0">
                <a:solidFill>
                  <a:srgbClr val="6E7482"/>
                </a:solidFill>
                <a:latin typeface="Calibri"/>
              </a:rPr>
              <a:t> Personal data leaves the EU. Stored on third-party servers. Never deletable.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3246120"/>
            <a:ext cx="4602175" cy="2834640"/>
          </a:xfrm>
          <a:prstGeom prst="roundRect">
            <a:avLst/>
          </a:prstGeom>
          <a:solidFill>
            <a:srgbClr val="FDFBF4"/>
          </a:solidFill>
          <a:ln w="762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611880"/>
            <a:ext cx="46021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 i="0">
                <a:solidFill>
                  <a:srgbClr val="6E7482"/>
                </a:solidFill>
                <a:latin typeface="Calibri"/>
              </a:rPr>
              <a:t>MAX GDPR FINE (ART. 83)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023360"/>
            <a:ext cx="4602175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800" b="1" i="0">
                <a:solidFill>
                  <a:srgbClr val="B82F21"/>
                </a:solidFill>
                <a:latin typeface="Consolas"/>
              </a:rPr>
              <a:t>€20M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257800"/>
            <a:ext cx="46021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or 4% of global turnover — whichever is higher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577840"/>
            <a:ext cx="46021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0" i="0">
                <a:solidFill>
                  <a:srgbClr val="6E7482"/>
                </a:solidFill>
                <a:latin typeface="Calibri"/>
              </a:rPr>
              <a:t>This is the wall every club hits before they ship.</a:t>
            </a:r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1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OUR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1A2132"/>
                </a:solidFill>
                <a:latin typeface="Calibri"/>
              </a:rPr>
              <a:t>Mask first.</a:t>
            </a:r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2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OUR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1A2132"/>
                </a:solidFill>
                <a:latin typeface="Calibri"/>
              </a:rPr>
              <a:t>Mask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0545775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1F6B47"/>
                </a:solidFill>
                <a:latin typeface="Calibri"/>
              </a:rPr>
              <a:t>Analyze second.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960120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6E7482"/>
                </a:solidFill>
                <a:latin typeface="Calibri"/>
              </a:rPr>
              <a:t>Privacy is step 1 of the pipeline, not a final check. Raw PII never crosses a service boundary, never reaches the LLM, never lands in the database — by architecture, not by promise.</a:t>
            </a:r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STAGE 01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One Python boundary. Five stages. Raw PII dies at stage 2.</a:t>
            </a:r>
          </a:p>
        </p:txBody>
      </p:sp>
      <p:sp>
        <p:nvSpPr>
          <p:cNvPr id="10" name="Oval 9"/>
          <p:cNvSpPr/>
          <p:nvPr/>
        </p:nvSpPr>
        <p:spPr>
          <a:xfrm>
            <a:off x="5400903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07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1799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8103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2695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8999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3591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9895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4487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977481" cy="1874519"/>
          </a:xfrm>
          <a:prstGeom prst="roundRect">
            <a:avLst/>
          </a:prstGeom>
          <a:solidFill>
            <a:srgbClr val="ECF4EF"/>
          </a:solidFill>
          <a:ln w="254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544409" y="320040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01 · DETECT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PII 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Regex + Presidio NER + German rules + hard negatives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958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65033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647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02 · 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647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Anonymize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647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Stable [NAME_1], [EMAIL_1] placeholders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1658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7106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98546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03 ·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8546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Safety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8546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Second PII scan on masked text — blocks if any leak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732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9180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062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04 ·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062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062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Stub or OpenAI — only masked text leaves the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80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1253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269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05 · 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69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Final 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69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Output re-scanned + JSON validated before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59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Stage 1 of 5 lit · click to advance</a:t>
            </a: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STAGE 02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One Python boundary. Five stages. Raw PII dies at stage 2.</a:t>
            </a:r>
          </a:p>
        </p:txBody>
      </p:sp>
      <p:sp>
        <p:nvSpPr>
          <p:cNvPr id="10" name="Oval 9"/>
          <p:cNvSpPr/>
          <p:nvPr/>
        </p:nvSpPr>
        <p:spPr>
          <a:xfrm>
            <a:off x="5400903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07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1799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8103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2695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8999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3591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9895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4487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01 ·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PII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Regex + Presidio NER + German rules + hard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958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65033" y="3063240"/>
            <a:ext cx="1977481" cy="1874519"/>
          </a:xfrm>
          <a:prstGeom prst="roundRect">
            <a:avLst/>
          </a:prstGeom>
          <a:solidFill>
            <a:srgbClr val="ECF4EF"/>
          </a:solidFill>
          <a:ln w="254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86482" y="320040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5647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02 · MASK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647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Anonymize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647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Stable [NAME_1], [EMAIL_1] placeholders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1658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7106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98546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03 ·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8546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Safety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8546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Second PII scan on masked text — blocks if any leak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732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9180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062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04 ·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062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062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Stub or OpenAI — only masked text leaves the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80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1253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269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05 · 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69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Final 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69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Output re-scanned + JSON validated before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59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Stage 2 of 5 lit · click to advance</a:t>
            </a: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STAGE 03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One Python boundary. Five stages. Raw PII dies at stage 2.</a:t>
            </a:r>
          </a:p>
        </p:txBody>
      </p:sp>
      <p:sp>
        <p:nvSpPr>
          <p:cNvPr id="10" name="Oval 9"/>
          <p:cNvSpPr/>
          <p:nvPr/>
        </p:nvSpPr>
        <p:spPr>
          <a:xfrm>
            <a:off x="5400903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07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1799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8103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2695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8999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3591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9895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4487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01 ·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PII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Regex + Presidio NER + German rules + hard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958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65033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5647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02 · 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647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Anonymize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647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Stable [NAME_1], [EMAIL_1] placeholders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1658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7106" y="3063240"/>
            <a:ext cx="1977481" cy="1874519"/>
          </a:xfrm>
          <a:prstGeom prst="roundRect">
            <a:avLst/>
          </a:prstGeom>
          <a:solidFill>
            <a:srgbClr val="ECF4EF"/>
          </a:solidFill>
          <a:ln w="254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28556" y="320040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98546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03 ·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8546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Safety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8546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Second PII scan on masked text — blocks if any leak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732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9180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062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04 ·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062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062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Stub or OpenAI — only masked text leaves the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80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1253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269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05 · 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69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Final 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69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Output re-scanned + JSON validated before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59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Stage 3 of 5 lit · click to advance</a:t>
            </a:r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STAGE 04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One Python boundary. Five stages. Raw PII dies at stage 2.</a:t>
            </a:r>
          </a:p>
        </p:txBody>
      </p:sp>
      <p:sp>
        <p:nvSpPr>
          <p:cNvPr id="10" name="Oval 9"/>
          <p:cNvSpPr/>
          <p:nvPr/>
        </p:nvSpPr>
        <p:spPr>
          <a:xfrm>
            <a:off x="5400903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07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1799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8103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2695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8999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3591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9895" y="2672192"/>
            <a:ext cx="164592" cy="14000"/>
          </a:xfrm>
          <a:prstGeom prst="rect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4487" y="2606040"/>
            <a:ext cx="146304" cy="146304"/>
          </a:xfrm>
          <a:prstGeom prst="ellipse">
            <a:avLst/>
          </a:prstGeom>
          <a:solidFill>
            <a:srgbClr val="E5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01 ·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PII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Regex + Presidio NER + German rules + hard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958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65033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5647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02 · 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647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Anonymize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647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Stable [NAME_1], [EMAIL_1] placeholders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1658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7106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98546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03 ·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8546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Safety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8546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Second PII scan on masked text — blocks if any leak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3732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180" y="3063240"/>
            <a:ext cx="1977481" cy="1874519"/>
          </a:xfrm>
          <a:prstGeom prst="roundRect">
            <a:avLst/>
          </a:prstGeom>
          <a:solidFill>
            <a:srgbClr val="ECF4EF"/>
          </a:solidFill>
          <a:ln w="254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70629" y="320040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4062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04 · LLM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062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062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Stub or OpenAI — only masked text leaves the 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80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E5E1D3"/>
                </a:solidFill>
                <a:latin typeface="Calibri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1253" y="3063240"/>
            <a:ext cx="1977481" cy="1874519"/>
          </a:xfrm>
          <a:prstGeom prst="roundRect">
            <a:avLst/>
          </a:prstGeom>
          <a:solidFill>
            <a:srgbClr val="F7F4EA"/>
          </a:solidFill>
          <a:ln w="9525">
            <a:solidFill>
              <a:srgbClr val="E5E1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269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BCB6A6"/>
                </a:solidFill>
                <a:latin typeface="Consolas"/>
              </a:rPr>
              <a:t>05 · 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69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BCB6A6"/>
                </a:solidFill>
                <a:latin typeface="Calibri"/>
              </a:rPr>
              <a:t>Final 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69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BCB6A6"/>
                </a:solidFill>
                <a:latin typeface="Calibri"/>
              </a:rPr>
              <a:t>Output re-scanned + JSON validated before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23559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Stage 4 of 5 lit · click to advance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STAGE 05 /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One Python boundary. Five stages. Raw PII dies at stage 2.</a:t>
            </a:r>
          </a:p>
        </p:txBody>
      </p:sp>
      <p:sp>
        <p:nvSpPr>
          <p:cNvPr id="10" name="Oval 9"/>
          <p:cNvSpPr/>
          <p:nvPr/>
        </p:nvSpPr>
        <p:spPr>
          <a:xfrm>
            <a:off x="5400903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47207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1799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8103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22695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68999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33591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79895" y="2672192"/>
            <a:ext cx="164592" cy="140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4487" y="2606040"/>
            <a:ext cx="146304" cy="146304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01 ·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PII Scan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Regex + Presidio NER + German rules + hard negatives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958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65033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5647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02 · MASK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647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Anonymize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647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Stable [NAME_1], [EMAIL_1] placeholders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1658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07106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98546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03 ·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8546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Safety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98546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Second PII scan on masked text — blocks if any leak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3732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9180" y="3063240"/>
            <a:ext cx="1977481" cy="1874519"/>
          </a:xfrm>
          <a:prstGeom prst="roundRect">
            <a:avLst/>
          </a:prstGeom>
          <a:solidFill>
            <a:srgbClr val="FDFBF4"/>
          </a:solidFill>
          <a:ln w="15875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40620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04 · LLM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0620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Analyze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0620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Stub or OpenAI — only masked text leaves the box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805" y="3863339"/>
            <a:ext cx="16459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1600" b="1" i="0">
                <a:solidFill>
                  <a:srgbClr val="1F6B47"/>
                </a:solidFill>
                <a:latin typeface="Calibr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91253" y="3063240"/>
            <a:ext cx="1977481" cy="1874519"/>
          </a:xfrm>
          <a:prstGeom prst="roundRect">
            <a:avLst/>
          </a:prstGeom>
          <a:solidFill>
            <a:srgbClr val="ECF4EF"/>
          </a:solidFill>
          <a:ln w="254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12703" y="320040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2693" y="3246120"/>
            <a:ext cx="1794601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05 · VALIDATE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2693" y="3566160"/>
            <a:ext cx="1794601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400" b="1" i="0">
                <a:solidFill>
                  <a:srgbClr val="1A2132"/>
                </a:solidFill>
                <a:latin typeface="Calibri"/>
              </a:rPr>
              <a:t>Final Scrub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82693" y="3977640"/>
            <a:ext cx="1794601" cy="914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E7482"/>
                </a:solidFill>
                <a:latin typeface="Calibri"/>
              </a:rPr>
              <a:t>Output re-scanned + JSON validated before storage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349239"/>
            <a:ext cx="10545775" cy="822960"/>
          </a:xfrm>
          <a:prstGeom prst="roundRect">
            <a:avLst/>
          </a:prstGeom>
          <a:solidFill>
            <a:srgbClr val="DAE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97280" y="5486399"/>
            <a:ext cx="9997135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2C4E84"/>
                </a:solidFill>
                <a:latin typeface="Calibri"/>
              </a:rPr>
              <a:t>What gets stored: </a:t>
            </a:r>
            <a:r>
              <a:rPr sz="1200" b="0" i="0">
                <a:solidFill>
                  <a:srgbClr val="2C4E84"/>
                </a:solidFill>
                <a:latin typeface="Calibri"/>
              </a:rPr>
              <a:t>masked message + PII metadata (type, offset — </a:t>
            </a:r>
            <a:r>
              <a:rPr sz="1100" b="1" i="0">
                <a:solidFill>
                  <a:srgbClr val="2C4E84"/>
                </a:solidFill>
                <a:latin typeface="Consolas"/>
              </a:rPr>
              <a:t>no entity_value column</a:t>
            </a:r>
            <a:r>
              <a:rPr sz="1200" b="0" i="0">
                <a:solidFill>
                  <a:srgbClr val="2C4E84"/>
                </a:solidFill>
                <a:latin typeface="Calibri"/>
              </a:rPr>
              <a:t>) + analysis + a SHA-256 of the raw input. </a:t>
            </a:r>
            <a:r>
              <a:rPr sz="1200" b="1" i="0">
                <a:solidFill>
                  <a:srgbClr val="2C4E84"/>
                </a:solidFill>
                <a:latin typeface="Calibri"/>
              </a:rPr>
              <a:t>That's it.</a:t>
            </a:r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01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LIVE · A REAL FAN 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Watch personal data turn into placeholders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8255" y="1645920"/>
            <a:ext cx="3840480" cy="640080"/>
          </a:xfrm>
          <a:prstGeom prst="roundRect">
            <a:avLst/>
          </a:prstGeom>
          <a:solidFill>
            <a:srgbClr val="FDFBF4"/>
          </a:solidFill>
          <a:ln w="1905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29423" y="1911096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5455" y="173736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i="0">
                <a:solidFill>
                  <a:srgbClr val="1F6B47"/>
                </a:solidFill>
                <a:latin typeface="Calibri"/>
              </a:rPr>
              <a:t>TRY IT ON YOUR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9476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A2132"/>
                </a:solidFill>
                <a:latin typeface="Consolas"/>
              </a:rPr>
              <a:t>fan-pulse-guard.vercel.app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4864" cy="320040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18872" cy="118872"/>
          </a:xfrm>
          <a:prstGeom prst="ellipse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B82F21"/>
                </a:solidFill>
                <a:latin typeface="Calibri"/>
              </a:rPr>
              <a:t>RAW FAN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Lukas Weber from München. Email: lukas.weber@gmail.com, phone +49 176 12345678. My booking BK-92811 was charged twice after Match Day 12 — please refund. Gate C was chaos too.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2606040"/>
            <a:ext cx="54864" cy="32004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7871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07327" y="288036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0207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WHAT THE LLM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1">
                <a:solidFill>
                  <a:srgbClr val="6E7482"/>
                </a:solidFill>
                <a:latin typeface="Consolas"/>
              </a:rPr>
              <a:t>(LLM hasn't seen anything yet)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onsolas"/>
              </a:rPr>
              <a:t>Ready. </a:t>
            </a:r>
            <a:r>
              <a:rPr sz="1100" b="0" i="0">
                <a:solidFill>
                  <a:srgbClr val="6E7482"/>
                </a:solidFill>
                <a:latin typeface="Consolas"/>
              </a:rPr>
              <a:t>Press Space or click to run the masking.</a:t>
            </a:r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02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LIVE · A REAL FAN 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Watch personal data turn into placeholders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8255" y="1645920"/>
            <a:ext cx="3840480" cy="640080"/>
          </a:xfrm>
          <a:prstGeom prst="roundRect">
            <a:avLst/>
          </a:prstGeom>
          <a:solidFill>
            <a:srgbClr val="FDFBF4"/>
          </a:solidFill>
          <a:ln w="1905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29423" y="1911096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5455" y="173736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i="0">
                <a:solidFill>
                  <a:srgbClr val="1F6B47"/>
                </a:solidFill>
                <a:latin typeface="Calibri"/>
              </a:rPr>
              <a:t>TRY IT ON YOUR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9476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A2132"/>
                </a:solidFill>
                <a:latin typeface="Consolas"/>
              </a:rPr>
              <a:t>fan-pulse-guard.vercel.app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4864" cy="320040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18872" cy="118872"/>
          </a:xfrm>
          <a:prstGeom prst="ellipse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B82F21"/>
                </a:solidFill>
                <a:latin typeface="Calibri"/>
              </a:rPr>
              <a:t>RAW FAN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 Weber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from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München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Email: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lukas.weber@gmail.com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, phone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+49 176 12345678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My booking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BK-92811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was charged twice after Match Day 12 — please refund. Gate C was chaos too.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2606040"/>
            <a:ext cx="54864" cy="32004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7871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07327" y="288036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0207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WHAT THE LLM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200" b="0" i="1">
                <a:solidFill>
                  <a:srgbClr val="6E7482"/>
                </a:solidFill>
                <a:latin typeface="Consolas"/>
              </a:rPr>
              <a:t>(LLM hasn't seen anything yet)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onsolas"/>
              </a:rPr>
              <a:t>Stage 1/5 · Detect </a:t>
            </a:r>
            <a:r>
              <a:rPr sz="1100" b="0" i="0">
                <a:solidFill>
                  <a:srgbClr val="6E7482"/>
                </a:solidFill>
                <a:latin typeface="Consolas"/>
              </a:rPr>
              <a:t>— scanning for PII…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03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LIVE · A REAL FAN 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Watch personal data turn into placeholders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8255" y="1645920"/>
            <a:ext cx="3840480" cy="640080"/>
          </a:xfrm>
          <a:prstGeom prst="roundRect">
            <a:avLst/>
          </a:prstGeom>
          <a:solidFill>
            <a:srgbClr val="FDFBF4"/>
          </a:solidFill>
          <a:ln w="1905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29423" y="1911096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5455" y="173736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i="0">
                <a:solidFill>
                  <a:srgbClr val="1F6B47"/>
                </a:solidFill>
                <a:latin typeface="Calibri"/>
              </a:rPr>
              <a:t>TRY IT ON YOUR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9476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A2132"/>
                </a:solidFill>
                <a:latin typeface="Consolas"/>
              </a:rPr>
              <a:t>fan-pulse-guard.vercel.app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4864" cy="320040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18872" cy="118872"/>
          </a:xfrm>
          <a:prstGeom prst="ellipse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B82F21"/>
                </a:solidFill>
                <a:latin typeface="Calibri"/>
              </a:rPr>
              <a:t>RAW FAN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 Weber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from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München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Email: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lukas.weber@gmail.com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, phone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+49 176 12345678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My booking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BK-92811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was charged twice after Match Day 12 — please refund. Gate C was chaos too.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2606040"/>
            <a:ext cx="54864" cy="32004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7871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07327" y="288036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0207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WHAT THE LLM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[NAME_1]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from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[CITY_1]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Email: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[EMAIL_1]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, phone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[PHONE_1]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My booking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[BOOKING_ID_1]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was charged twice after Match Day 12 — please refund. Gate C was chaos too.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onsolas"/>
              </a:rPr>
              <a:t>Stage 2/5 · Mask </a:t>
            </a:r>
            <a:r>
              <a:rPr sz="1100" b="0" i="0">
                <a:solidFill>
                  <a:srgbClr val="6E7482"/>
                </a:solidFill>
                <a:latin typeface="Consolas"/>
              </a:rPr>
              <a:t>— replacing with stable placeholders…</a:t>
            </a:r>
          </a:p>
        </p:txBody>
      </p:sp>
    </p:spTree>
  </p:cSld>
  <p:clrMapOvr>
    <a:masterClrMapping/>
  </p:clrMapOvr>
  <p:transition spd="med">
    <p:push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04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LIVE · A REAL FAN 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676656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Watch personal data turn into placeholders in milliseconds.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8255" y="1645920"/>
            <a:ext cx="3840480" cy="640080"/>
          </a:xfrm>
          <a:prstGeom prst="roundRect">
            <a:avLst/>
          </a:prstGeom>
          <a:solidFill>
            <a:srgbClr val="FDFBF4"/>
          </a:solidFill>
          <a:ln w="1905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29423" y="1911096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85455" y="173736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1" i="0">
                <a:solidFill>
                  <a:srgbClr val="1F6B47"/>
                </a:solidFill>
                <a:latin typeface="Calibri"/>
              </a:rPr>
              <a:t>TRY IT ON YOUR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455" y="1947672"/>
            <a:ext cx="33375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400" b="1" i="0">
                <a:solidFill>
                  <a:srgbClr val="1A2132"/>
                </a:solidFill>
                <a:latin typeface="Consolas"/>
              </a:rPr>
              <a:t>fan-pulse-guard.vercel.app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4864" cy="3200400"/>
          </a:xfrm>
          <a:prstGeom prst="rect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7824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2880360"/>
            <a:ext cx="118872" cy="118872"/>
          </a:xfrm>
          <a:prstGeom prst="ellipse">
            <a:avLst/>
          </a:prstGeom>
          <a:solidFill>
            <a:srgbClr val="B82F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0160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B82F21"/>
                </a:solidFill>
                <a:latin typeface="Calibri"/>
              </a:rPr>
              <a:t>RAW FAN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 Weber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from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München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Email: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lukas.weber@gmail.com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, phone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+49 176 12345678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My booking </a:t>
            </a:r>
            <a:r>
              <a:rPr sz="1300" b="1" i="0">
                <a:solidFill>
                  <a:srgbClr val="B82F21"/>
                </a:solidFill>
                <a:latin typeface="Consolas"/>
              </a:rPr>
              <a:t>BK-92811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was charged twice after Match Day 12 — please refund. Gate C was chaos too.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2606040"/>
            <a:ext cx="54864" cy="320040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87871" y="2606040"/>
            <a:ext cx="5080863" cy="320040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07327" y="2880360"/>
            <a:ext cx="118872" cy="118872"/>
          </a:xfrm>
          <a:prstGeom prst="ellipse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90207" y="2852928"/>
            <a:ext cx="4587087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WHAT THE LLM SEES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291840"/>
            <a:ext cx="4587087" cy="2331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A2132"/>
                </a:solidFill>
                <a:latin typeface="Consolas"/>
              </a:rPr>
              <a:t>Hallo team, ich bin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[NAME_1]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from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[CITY_1]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Email: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[EMAIL_1]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, phone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[PHONE_1]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. My booking </a:t>
            </a:r>
            <a:r>
              <a:rPr sz="1300" b="1" i="0">
                <a:solidFill>
                  <a:srgbClr val="2C4E84"/>
                </a:solidFill>
                <a:latin typeface="Consolas"/>
              </a:rPr>
              <a:t>[BOOKING_ID_1]</a:t>
            </a:r>
            <a:r>
              <a:rPr sz="1300" b="0" i="0">
                <a:solidFill>
                  <a:srgbClr val="1A2132"/>
                </a:solidFill>
                <a:latin typeface="Consolas"/>
              </a:rPr>
              <a:t> was charged twice after Match Day 12 — please refund. Gate C was chaos too.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F6B47"/>
                </a:solidFill>
                <a:latin typeface="Consolas"/>
              </a:rPr>
              <a:t>✓ Done. </a:t>
            </a:r>
            <a:r>
              <a:rPr sz="1100" b="0" i="0">
                <a:solidFill>
                  <a:srgbClr val="1A2132"/>
                </a:solidFill>
                <a:latin typeface="Consolas"/>
              </a:rPr>
              <a:t>5 entities masked · 0 leaked · 612ms total</a:t>
            </a:r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WHY THIS IS HARD · OUR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Anyone can call an LLM. Almost nobody gets the masking layer right.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54864" cy="141732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77824" y="2606040"/>
            <a:ext cx="5080863" cy="141732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1F6B47"/>
                </a:solidFill>
                <a:latin typeface="Consolas"/>
              </a:rPr>
              <a:t>4×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467852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A2132"/>
                </a:solidFill>
                <a:latin typeface="Calibri"/>
              </a:rPr>
              <a:t>Detection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4678527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E7482"/>
                </a:solidFill>
                <a:latin typeface="Calibri"/>
              </a:rPr>
              <a:t>Regex + Presidio NER + German address rules + football hard negatives so “Gate C”, “Match Day 12”, “Block 14” stay unmasked.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2606040"/>
            <a:ext cx="54864" cy="1417320"/>
          </a:xfrm>
          <a:prstGeom prst="rect">
            <a:avLst/>
          </a:prstGeom>
          <a:solidFill>
            <a:srgbClr val="396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87871" y="2606040"/>
            <a:ext cx="5080863" cy="141732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7327" y="274320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39669E"/>
                </a:solidFill>
                <a:latin typeface="Consola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108960"/>
            <a:ext cx="467852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A2132"/>
                </a:solidFill>
                <a:latin typeface="Calibri"/>
              </a:rPr>
              <a:t>entity_value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429000"/>
            <a:ext cx="4678527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E7482"/>
                </a:solidFill>
                <a:latin typeface="Calibri"/>
              </a:rPr>
              <a:t>PII values are not just hashed — they are never persisted. Even a full DB dump can't reconstruct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251960"/>
            <a:ext cx="54864" cy="1417320"/>
          </a:xfrm>
          <a:prstGeom prst="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7824" y="4251960"/>
            <a:ext cx="5080863" cy="141732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1F6B47"/>
                </a:solidFill>
                <a:latin typeface="Consolas"/>
              </a:rPr>
              <a:t>2×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467852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A2132"/>
                </a:solidFill>
                <a:latin typeface="Calibri"/>
              </a:rPr>
              <a:t>Safety scans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4678527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E7482"/>
                </a:solidFill>
                <a:latin typeface="Calibri"/>
              </a:rPr>
              <a:t>One on the input after masking (blocks the LLM if any leak survives), one on the LLM's output before storage.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251960"/>
            <a:ext cx="54864" cy="1417320"/>
          </a:xfrm>
          <a:prstGeom prst="rect">
            <a:avLst/>
          </a:prstGeom>
          <a:solidFill>
            <a:srgbClr val="396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7871" y="4251960"/>
            <a:ext cx="5080863" cy="1417320"/>
          </a:xfrm>
          <a:prstGeom prst="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7327" y="4389120"/>
            <a:ext cx="4678527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>
                <a:solidFill>
                  <a:srgbClr val="39669E"/>
                </a:solidFill>
                <a:latin typeface="Consolas"/>
              </a:rPr>
              <a:t>77 / 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7327" y="4754880"/>
            <a:ext cx="4678527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300" b="1" i="0">
                <a:solidFill>
                  <a:srgbClr val="1A2132"/>
                </a:solidFill>
                <a:latin typeface="Calibri"/>
              </a:rPr>
              <a:t>Tests passing · 0% leakage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7327" y="5074920"/>
            <a:ext cx="4678527" cy="594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6E7482"/>
                </a:solidFill>
                <a:latin typeface="Calibri"/>
              </a:rPr>
              <a:t>Hostile prompts, prompt-injection, mixed EN/DE, lowercase names, intro-only names — all covered.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897880"/>
            <a:ext cx="10545775" cy="502920"/>
          </a:xfrm>
          <a:prstGeom prst="roundRect">
            <a:avLst/>
          </a:prstGeom>
          <a:solidFill>
            <a:srgbClr val="E6E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6016752"/>
            <a:ext cx="9997135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200" b="1" i="0">
                <a:solidFill>
                  <a:srgbClr val="1F6B47"/>
                </a:solidFill>
                <a:latin typeface="Consolas"/>
              </a:rPr>
              <a:t>10 / 10 </a:t>
            </a:r>
            <a:r>
              <a:rPr sz="1100" b="0" i="0">
                <a:solidFill>
                  <a:srgbClr val="1A2132"/>
                </a:solidFill>
                <a:latin typeface="Calibri"/>
              </a:rPr>
              <a:t>hard privacy rules baked into the architecture · </a:t>
            </a:r>
            <a:r>
              <a:rPr sz="1100" b="0" i="1">
                <a:solidFill>
                  <a:srgbClr val="6E7482"/>
                </a:solidFill>
                <a:latin typeface="Calibri"/>
              </a:rPr>
              <a:t>raw PII never reaches the LLM · never stored · blocked at the gate if any leak survives</a:t>
            </a:r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1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Any club, any league, can now read every fan — without ever touching a fan.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CD711F"/>
                </a:solidFill>
                <a:latin typeface="Consolas"/>
              </a:rPr>
              <a:t>€20M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GDPR exposure removed at the architecture level, not added on at the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1F6B47"/>
                </a:solidFill>
                <a:latin typeface="Consolas"/>
              </a:rPr>
              <a:t>&lt; 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End-to-end latency on the stub provider — drop in any LLM, the pipeline doesn't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3476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1F6B47"/>
                </a:solidFill>
                <a:latin typeface="Consolas"/>
              </a:rPr>
              <a:t>72h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3476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Built in one hackathon weekend. 77 tests, 10 hard privacy rules, EN + DE, ready to demo.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0" i="0">
                <a:solidFill>
                  <a:srgbClr val="6E7482"/>
                </a:solidFill>
                <a:latin typeface="Consolas"/>
              </a:rPr>
              <a:t>click to see who this is for →</a:t>
            </a:r>
          </a:p>
        </p:txBody>
      </p:sp>
    </p:spTree>
  </p:cSld>
  <p:clrMapOvr>
    <a:masterClrMapping/>
  </p:clrMapOvr>
  <p:transition spd="med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548640"/>
            <a:ext cx="1554480" cy="292608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4255" y="59436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1" i="0">
                <a:solidFill>
                  <a:srgbClr val="1F6B47"/>
                </a:solidFill>
                <a:latin typeface="Consolas"/>
              </a:rPr>
              <a:t>STEP 2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WHY THIS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132"/>
                </a:solidFill>
                <a:latin typeface="Calibri"/>
              </a:rPr>
              <a:t>Any club, any league, can now read every fan — without ever touching a fan.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CD711F"/>
                </a:solidFill>
                <a:latin typeface="Consolas"/>
              </a:rPr>
              <a:t>€20M →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GDPR exposure removed at the architecture level, not added on at the 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8218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1F6B47"/>
                </a:solidFill>
                <a:latin typeface="Consolas"/>
              </a:rPr>
              <a:t>&lt; 1s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8218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End-to-end latency on the stub provider — drop in any LLM, the pipeline doesn't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3476" y="2697480"/>
            <a:ext cx="3240938" cy="1280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4400" b="1" i="0">
                <a:solidFill>
                  <a:srgbClr val="1F6B47"/>
                </a:solidFill>
                <a:latin typeface="Consolas"/>
              </a:rPr>
              <a:t>72h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3476" y="4069080"/>
            <a:ext cx="3240938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E7482"/>
                </a:solidFill>
                <a:latin typeface="Calibri"/>
              </a:rPr>
              <a:t>Built in one hackathon weekend. 77 tests, 10 hard privacy rules, EN + DE, ready to demo.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120640"/>
            <a:ext cx="3393338" cy="1188720"/>
          </a:xfrm>
          <a:prstGeom prst="round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302757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FAN INSIGHTS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77840"/>
            <a:ext cx="302757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2132"/>
                </a:solidFill>
                <a:latin typeface="Calibri"/>
              </a:rPr>
              <a:t>“What are fans complaining about today?” — answered without reading one PII byte.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9178" y="5120640"/>
            <a:ext cx="3393338" cy="1188720"/>
          </a:xfrm>
          <a:prstGeom prst="round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82058" y="5303520"/>
            <a:ext cx="302757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SUPPORT TEAM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2058" y="5577840"/>
            <a:ext cx="302757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2132"/>
                </a:solidFill>
                <a:latin typeface="Calibri"/>
              </a:rPr>
              <a:t>Urgent refund requests surface in seconds — not after 800 inbox scrolls.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5396" y="5120640"/>
            <a:ext cx="3393338" cy="1188720"/>
          </a:xfrm>
          <a:prstGeom prst="roundRect">
            <a:avLst/>
          </a:prstGeom>
          <a:solidFill>
            <a:srgbClr val="FDFBF4"/>
          </a:solidFill>
          <a:ln w="6350">
            <a:solidFill>
              <a:srgbClr val="D3C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58276" y="5303520"/>
            <a:ext cx="3027578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1" i="0">
                <a:solidFill>
                  <a:srgbClr val="1F6B47"/>
                </a:solidFill>
                <a:latin typeface="Calibri"/>
              </a:rPr>
              <a:t>DATA / LEGAL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8276" y="5577840"/>
            <a:ext cx="3027578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2132"/>
                </a:solidFill>
                <a:latin typeface="Calibri"/>
              </a:rPr>
              <a:t>One controlled boundary, audit log, no PII in DB. The compliance review writes itself.</a:t>
            </a:r>
          </a:p>
        </p:txBody>
      </p:sp>
    </p:spTree>
  </p:cSld>
  <p:clrMapOvr>
    <a:masterClrMapping/>
  </p:clrMapOvr>
  <p:transition spd="med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000" b="1" i="0">
                <a:solidFill>
                  <a:srgbClr val="1F6B47"/>
                </a:solidFill>
                <a:latin typeface="Calibri"/>
              </a:rPr>
              <a:t>RAUMDEUTER · FAN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2132"/>
                </a:solidFill>
                <a:latin typeface="Calibri"/>
              </a:rPr>
              <a:t>Raw PII never reaches the LLM.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A2132"/>
                </a:solidFill>
                <a:latin typeface="Calibri"/>
              </a:rPr>
              <a:t>Never stored.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10545775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1F6B47"/>
                </a:solidFill>
                <a:latin typeface="Calibri"/>
              </a:rPr>
              <a:t>By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 i="0">
                <a:solidFill>
                  <a:srgbClr val="1F6B47"/>
                </a:solidFill>
                <a:latin typeface="Consolas"/>
              </a:rPr>
              <a:t>✓  </a:t>
            </a:r>
            <a:r>
              <a:rPr sz="1200" b="0" i="0">
                <a:solidFill>
                  <a:srgbClr val="6E7482"/>
                </a:solidFill>
                <a:latin typeface="Consolas"/>
              </a:rPr>
              <a:t>10 hard privacy rules baked into the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 i="0">
                <a:solidFill>
                  <a:srgbClr val="1F6B47"/>
                </a:solidFill>
                <a:latin typeface="Consolas"/>
              </a:rPr>
              <a:t>✓  </a:t>
            </a:r>
            <a:r>
              <a:rPr sz="1200" b="0" i="0">
                <a:solidFill>
                  <a:srgbClr val="6E7482"/>
                </a:solidFill>
                <a:latin typeface="Consolas"/>
              </a:rPr>
              <a:t>Works offline (stub LLM) — drop-in OpenAI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42816"/>
            <a:ext cx="10545775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200" b="1" i="0">
                <a:solidFill>
                  <a:srgbClr val="1F6B47"/>
                </a:solidFill>
                <a:latin typeface="Consolas"/>
              </a:rPr>
              <a:t>✓  </a:t>
            </a:r>
            <a:r>
              <a:rPr sz="1200" b="0" i="0">
                <a:solidFill>
                  <a:srgbClr val="6E7482"/>
                </a:solidFill>
                <a:latin typeface="Consolas"/>
              </a:rPr>
              <a:t>Open-source, EN + DE, ready to ship for any club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6808" y="4846320"/>
            <a:ext cx="7498079" cy="1737360"/>
          </a:xfrm>
          <a:prstGeom prst="roundRect">
            <a:avLst/>
          </a:prstGeom>
          <a:solidFill>
            <a:srgbClr val="FDFBF4"/>
          </a:solidFill>
          <a:ln w="12700">
            <a:solidFill>
              <a:srgbClr val="1F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8" y="5029200"/>
            <a:ext cx="137160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67048" y="5074920"/>
            <a:ext cx="5349239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F6B47"/>
                </a:solidFill>
                <a:latin typeface="Calibri"/>
              </a:rPr>
              <a:t>TRY IT LIVE · RIGHT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7048" y="5539925"/>
            <a:ext cx="5349239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 i="0" dirty="0">
                <a:solidFill>
                  <a:srgbClr val="1A2132"/>
                </a:solidFill>
                <a:latin typeface="Consolas"/>
              </a:rPr>
              <a:t>fan-pulse-</a:t>
            </a:r>
            <a:r>
              <a:rPr sz="2200" b="1" i="0" dirty="0" err="1">
                <a:solidFill>
                  <a:srgbClr val="1A2132"/>
                </a:solidFill>
                <a:latin typeface="Consolas"/>
              </a:rPr>
              <a:t>guard.vercel.app</a:t>
            </a:r>
            <a:endParaRPr sz="2200" b="1" i="0" dirty="0">
              <a:solidFill>
                <a:srgbClr val="1A2132"/>
              </a:solidFill>
              <a:latin typeface="Consolas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548640"/>
            <a:ext cx="310896" cy="310896"/>
          </a:xfrm>
          <a:prstGeom prst="roundRect">
            <a:avLst/>
          </a:prstGeom>
          <a:solidFill>
            <a:srgbClr val="1F6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Isosceles Triangle 2"/>
          <p:cNvSpPr/>
          <p:nvPr/>
        </p:nvSpPr>
        <p:spPr>
          <a:xfrm>
            <a:off x="886968" y="612648"/>
            <a:ext cx="182880" cy="182880"/>
          </a:xfrm>
          <a:prstGeom prst="triangle">
            <a:avLst/>
          </a:prstGeom>
          <a:noFill/>
          <a:ln w="15875">
            <a:solidFill>
              <a:srgbClr val="FDFB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521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100" b="1" i="0">
                <a:solidFill>
                  <a:srgbClr val="1A2132"/>
                </a:solidFill>
                <a:latin typeface="Calibri"/>
              </a:rPr>
              <a:t>Raumdeuter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9494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 i="0">
                <a:solidFill>
                  <a:srgbClr val="6E7482"/>
                </a:solidFill>
                <a:latin typeface="Calibri"/>
              </a:rPr>
              <a:t>Fan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8800" b="1" i="0">
                <a:solidFill>
                  <a:srgbClr val="1A2132"/>
                </a:solidFill>
                <a:latin typeface="Calibri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45775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2600" b="0" i="0">
                <a:solidFill>
                  <a:srgbClr val="1F6B47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300" b="0" i="0">
                <a:solidFill>
                  <a:srgbClr val="6E7482"/>
                </a:solidFill>
                <a:latin typeface="Consolas"/>
              </a:rPr>
              <a:t>fan-pulse-guard.vercel.app</a:t>
            </a:r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1809</Words>
  <Application>Microsoft Macintosh PowerPoint</Application>
  <PresentationFormat>Widescreen</PresentationFormat>
  <Paragraphs>268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Afzal, Muhammad Afzaal</cp:lastModifiedBy>
  <cp:revision>4</cp:revision>
  <dcterms:created xsi:type="dcterms:W3CDTF">2013-01-27T09:14:16Z</dcterms:created>
  <dcterms:modified xsi:type="dcterms:W3CDTF">2026-05-22T07:00:17Z</dcterms:modified>
  <cp:category/>
</cp:coreProperties>
</file>